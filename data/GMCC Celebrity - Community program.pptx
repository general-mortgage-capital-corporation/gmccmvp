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1"/>
  </p:notesMasterIdLst>
  <p:sldIdLst>
    <p:sldId id="260" r:id="rId6"/>
    <p:sldId id="319" r:id="rId7"/>
    <p:sldId id="320" r:id="rId8"/>
    <p:sldId id="346" r:id="rId9"/>
    <p:sldId id="351" r:id="rId10"/>
    <p:sldId id="349" r:id="rId11"/>
    <p:sldId id="322" r:id="rId12"/>
    <p:sldId id="323" r:id="rId13"/>
    <p:sldId id="340" r:id="rId14"/>
    <p:sldId id="324" r:id="rId15"/>
    <p:sldId id="325" r:id="rId16"/>
    <p:sldId id="343" r:id="rId17"/>
    <p:sldId id="327" r:id="rId18"/>
    <p:sldId id="329" r:id="rId19"/>
    <p:sldId id="328" r:id="rId20"/>
    <p:sldId id="330" r:id="rId21"/>
    <p:sldId id="336" r:id="rId22"/>
    <p:sldId id="335" r:id="rId23"/>
    <p:sldId id="341" r:id="rId24"/>
    <p:sldId id="347" r:id="rId25"/>
    <p:sldId id="333" r:id="rId26"/>
    <p:sldId id="348" r:id="rId27"/>
    <p:sldId id="339" r:id="rId28"/>
    <p:sldId id="344" r:id="rId29"/>
    <p:sldId id="34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F971-808D-B429-4CCE-86648844FB20}" v="2" dt="2026-03-13T21:06:5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tik Poddar" userId="S::naitik.poddar@gmccloan.com::7689a180-692b-4f33-b5f4-93b4cf464256" providerId="AD" clId="Web-{865EF971-808D-B429-4CCE-86648844FB20}"/>
    <pc:docChg chg="modSld">
      <pc:chgData name="Naitik Poddar" userId="S::naitik.poddar@gmccloan.com::7689a180-692b-4f33-b5f4-93b4cf464256" providerId="AD" clId="Web-{865EF971-808D-B429-4CCE-86648844FB20}" dt="2026-03-13T21:06:56.553" v="1" actId="1076"/>
      <pc:docMkLst>
        <pc:docMk/>
      </pc:docMkLst>
      <pc:sldChg chg="modSp">
        <pc:chgData name="Naitik Poddar" userId="S::naitik.poddar@gmccloan.com::7689a180-692b-4f33-b5f4-93b4cf464256" providerId="AD" clId="Web-{865EF971-808D-B429-4CCE-86648844FB20}" dt="2026-03-13T21:06:56.553" v="1" actId="1076"/>
        <pc:sldMkLst>
          <pc:docMk/>
          <pc:sldMk cId="1311541514" sldId="340"/>
        </pc:sldMkLst>
        <pc:picChg chg="mod">
          <ac:chgData name="Naitik Poddar" userId="S::naitik.poddar@gmccloan.com::7689a180-692b-4f33-b5f4-93b4cf464256" providerId="AD" clId="Web-{865EF971-808D-B429-4CCE-86648844FB20}" dt="2026-03-13T21:06:56.553" v="1" actId="1076"/>
          <ac:picMkLst>
            <pc:docMk/>
            <pc:sldMk cId="1311541514" sldId="340"/>
            <ac:picMk id="3" creationId="{7535CEAD-F3AB-006F-A4F9-E81EF204FC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2CEA2-5EC4-4076-99CE-E6B9AC9A387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84E1F-5CCD-4272-B576-17D958A49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3FBA61-98A0-40FE-921A-6A762ADD51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32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84E1F-5CCD-4272-B576-17D958A498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0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F6DA-6115-479C-9BA1-0CF9AC50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D7212-C77D-4080-A5AB-8561DD94B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BEDD-0AB1-464B-815C-1F7A7EB9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1D71-28AE-4839-A639-36E5373C4C16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77F95-5225-4673-B542-B3CDA0AE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02115-1CEB-4AC4-910E-7B559534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8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2353-63C3-4A85-927B-1B6DC54D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C8C53-6273-4793-AAAD-B7BB9EB8D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08CF-5183-467B-90E5-2F496BD8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A18BC-D9EF-4854-9F19-7CFEB50E57A8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578D0-1304-47F9-8CBE-59D23EBA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04A2-7B23-45AE-8404-2A16B177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0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350E-8E0A-41FA-9DC7-CCCD07AA5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38326-6F62-47A1-947D-7B11CD239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6C6F8-7FC7-47DF-A8F9-B2FFAAC3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DE09-66B8-43BE-8FFA-5D21C7269180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36EB-2D42-42C1-A945-8F006880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16024-F108-4BF8-A9E6-6C66902B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FA67-306E-4DC1-8DED-CBD4E56D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E09FC-A497-4C3D-8707-DE2C270DC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A957-76C4-4E2D-AC96-87902C581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80393-1A8A-4156-9904-28BFA2D3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E5A-DE44-4A91-B650-0FA854A5E2B9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ED97F-8EE6-47AA-AAB7-E0F1D0F0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4DF94-B42C-4EA5-81E3-B2A02620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4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B99F-B72F-412D-AE63-72954712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7C3A7-AA47-41E1-9FB0-DE8F4EBD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72678-7733-4E8A-80ED-05905B6A3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0762F-32CF-4D5E-A1E2-22DBA271F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9CA20-66BA-4B25-80B3-ADF244F8B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02123-40D0-47A3-8FC6-8F327BCF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BEAA9-A492-4B18-B2A9-645C5C896D5C}" type="datetime1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2066D-DDCD-4537-B3D8-714F990A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3F8DD-BFFB-405D-B57E-39DF1308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3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1C7F-8166-4C6C-923D-96AB4052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88C29-129D-471C-BBEE-08F4FA09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FAEB6-0276-4AF0-B879-C244D81ABDD8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1B96D-BDE7-415B-82D9-66A32F0E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EE739-3953-4994-9445-8807781D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6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6AA81-11D2-4C85-8101-DBFB32DD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69D2-9FF0-49BC-8AA5-910DCA68CAFA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EE604-5CEB-404E-859C-F5F1F204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89CE0-8079-47B0-970B-5364C7AC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1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3156-F07D-4AB7-B402-81504B6C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C8F59-A450-4B20-BE7B-17A84597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9E0AD-9A7D-49F4-890B-D5BC7D8B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7853C-B222-4EBE-99B1-5C65AA7B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188DF-F2CA-4454-B1AE-F855DB18367B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9C169-C6FD-4611-9D6E-921818FC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D309A-5D2B-4093-BFC7-EC160037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4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C41C-A71B-4696-9AC6-EEA254D1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5244B-FCBB-4E54-89BC-049804789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D01DC-FAE8-413D-80E5-075D2DD25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2894-2FBA-41ED-B71F-2ED0E81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03775-D880-4503-ABC4-BBE63B02AA23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BE0A2-C6D3-44B4-A515-25139BF7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8526D-EB44-415F-9768-575AD214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2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85A5-FB2F-4DCD-AC4B-C2379C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99A53-8110-414A-8D3F-03AD02ACF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EFF10-B853-4BCB-BDD8-76F308A8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7839C-C865-42EF-B8B1-061A1F4C4E68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C27F8-BFD8-4F3A-A82E-24CAC80C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92CF4-D496-4D37-A9CC-A08929D8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84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80BE2-D830-420A-BB54-6FF4A5539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21B6A-9B62-4242-82C7-512487603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FDABD-2745-441B-BF6F-B939BD8D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85BA8-DC77-49E9-A433-8872E8363D92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80F9-7522-4EA3-A69F-CB3BBA71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7BBB9-B82E-4A0F-94E2-DE00DF8B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31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459A-91B9-426F-A7DA-4807AC20B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25691-0BF1-49B5-99A8-250775914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1C66-720A-48AB-A896-D94975E2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42581-DDDE-45A2-88B1-7D647AF120C2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EF97-94A9-4075-A020-41E575F3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C662-4DDA-4B93-BC98-7774150F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60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AF3F-6F39-4C3A-8997-51FA77A47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99B6-C8E1-477B-B5B4-2D0B633D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A5ADD-C06C-4438-BC64-7CCF299C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3C10-8CCD-48FA-BBC6-CEB6D09A79C6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D9B8-22CD-415D-BFC6-E5BB306B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A416-2902-4E01-98F2-62D51BA4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8040-5E0B-41AA-A060-B4D4136D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6F15-933C-4D32-AAA2-D4780797D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289F-C757-4C51-996B-0ED97084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3325C-E65D-4D8D-82E2-C07BF5007609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FD0C-7E61-45A8-9032-664FFD1E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ACE2C-1144-4432-A88E-C87BE73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1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6B32-96F2-4660-9477-E689D047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B76A-65C3-450E-9784-85F33F2A2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E274-A2B0-4FEC-B8B8-391693182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021E-173A-43C8-9879-36702B7F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940E-D52F-4CE6-983F-7DCD17F12133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40BA5-AB4E-4087-A9D4-DFE3E44A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029C7-2F85-465D-8E3A-4D9C7A84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52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CC3E-9302-4B78-B527-50C779B4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2BE2-C474-47CF-A5FB-0FFA64CB6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501CC-B692-478C-AB33-3F3FAD68F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F6EF6-83FB-4206-A0FE-21393B50C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183B4-987B-44FA-AFEA-75AE3D33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BA844-3F19-41F7-9529-272A592B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CE8AE-C075-4AEF-9C7C-5D8EDEFFB55F}" type="datetime1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858E7-46D0-4087-B83D-4E9746F0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A05C9-DB0B-4751-A737-D74F1EA0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3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682D1-1E85-428A-9643-B2B6E094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BC7DA-53EB-47EE-B8AE-83B109C0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009-2D09-4F6D-858B-6BB134D53EAD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78610-EAAB-4892-8900-2B936D8A6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29774-B4C0-4EC8-AF0E-72A6912D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60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79320-8A0E-457A-859B-6A32853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EE15-D003-419D-96C3-90154164F5B2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11CC8-2202-4BE9-847B-3E51052E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3AF25-D60C-4AB3-8825-67B4CEA5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79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FC5C-59E7-4C6E-A81B-E8C5A830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3EAB-6C78-4649-9ED8-452D1221D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6FB81-8FCA-4F9E-8C0D-41238EC9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E18A9-DDD7-4A2D-AE9D-700BEACB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CA19-AA11-4427-A37B-33B2887FF19B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43F25-666B-411E-AD9E-5971325D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A7A80-5728-4858-B328-A299A5B9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2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341F-A198-407F-A491-DC5BFD22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83D6B-B18C-44CD-8691-9282D609B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C18CE-896B-4CD5-AA79-71A13210F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A1F28-8BD5-4649-A5D5-C872B0D2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40BC-07C3-447A-BC8C-2B5CD2D5E47D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B8288-05B7-4AD1-8C70-2994A15A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EDA3E-AC13-4D27-AD32-C154CBA1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10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3165-6753-40EC-BBE1-4A0EA5DC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71C8D-A92C-4B14-80FB-BD8D24934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30EFA-48DB-40F8-BB60-5F4EAB26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81B1-ECD8-4949-805E-72164B8C8E12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E94B2-0E43-4098-867B-92B2DCD9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5D885-3201-465F-8FEE-A7682EBB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237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81077C-8CCB-47DE-A618-A879E863D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D340D-684E-403E-A8FF-D80FDD85E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32CA-9F3F-4E36-9952-4186A187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C5F4-3AF5-440A-87D2-3ED62A206376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51FC-2598-4041-8A37-850E6C12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48C7-2CFE-4550-A78F-B194591D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CB514-1DC3-40D6-80FC-C836D68D1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1F2FB-56C0-4A26-BB24-D228C7A7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3112-C66E-4821-8ADA-E0B7F73B0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99BEB-E0A7-46F9-B7F4-857C139DCAF2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9431E-31B9-49E1-9BD5-2713FA670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D777C-FF26-4E29-9F18-E5A3AB0F8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67AE0-0717-43E4-B2B7-AE6D4B72E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5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9A058-6203-46EC-AEDB-D90780DF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BCF5-9FBC-4C2B-B373-9C8CA943A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032E-4E8F-4ED1-AB69-04939F32D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95091-9AAD-4EB6-A426-BF7835FE7EA0}" type="datetime1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7174-F3EA-4A4C-B78C-AD7741D0D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Celebrity Community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A25DF-A964-4C72-A358-B2C407AC5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C05E-C67D-440D-813E-141574F95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1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omap.ffiec.gov/ffiecgeoma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uduser.gov/portal/datasets/il/il2023/select_Geography.odn?STATES=6.0&amp;statelist=6.0&amp;stname=&amp;wherefrom=%24wherefrom%24&amp;statefp=00&amp;year=&amp;ne_flag=0&amp;selection_type=&amp;incpath=%24incpath%24&amp;data=202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97DE-0291-4F9F-9437-8261AE72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106" y="584200"/>
            <a:ext cx="9111761" cy="487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GMCC – Celebrity</a:t>
            </a:r>
            <a:br>
              <a:rPr lang="en-US" b="1" dirty="0"/>
            </a:br>
            <a:r>
              <a:rPr lang="en-US" b="1" dirty="0"/>
              <a:t>Community Opportunity Mortgage</a:t>
            </a:r>
            <a:br>
              <a:rPr lang="en-US" b="1" dirty="0"/>
            </a:br>
            <a:r>
              <a:rPr lang="en-US" b="1" dirty="0"/>
              <a:t>Pilot program – </a:t>
            </a:r>
            <a:r>
              <a:rPr lang="en-US" b="1" dirty="0">
                <a:highlight>
                  <a:srgbClr val="FFFF00"/>
                </a:highlight>
              </a:rPr>
              <a:t>restricted submission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D58CD-6085-4BE6-9D1D-DDFFF5F05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4870" y="4541193"/>
            <a:ext cx="9598268" cy="213469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>
                    <a:alpha val="80000"/>
                  </a:srgbClr>
                </a:solidFill>
              </a:rPr>
              <a:t> </a:t>
            </a:r>
            <a:r>
              <a:rPr lang="en-US" sz="1400" b="1" dirty="0">
                <a:solidFill>
                  <a:srgbClr val="FF0000">
                    <a:alpha val="80000"/>
                  </a:srgbClr>
                </a:solidFill>
              </a:rPr>
              <a:t>Proprietary &amp; Confidential. For </a:t>
            </a:r>
            <a:r>
              <a:rPr lang="en-US" sz="1400" b="1" u="sng" dirty="0">
                <a:solidFill>
                  <a:srgbClr val="FF0000">
                    <a:alpha val="80000"/>
                  </a:srgbClr>
                </a:solidFill>
              </a:rPr>
              <a:t>GMCC</a:t>
            </a:r>
            <a:r>
              <a:rPr lang="en-US" sz="1400" b="1" dirty="0">
                <a:solidFill>
                  <a:srgbClr val="FF0000">
                    <a:alpha val="80000"/>
                  </a:srgbClr>
                </a:solidFill>
              </a:rPr>
              <a:t> Mortgage Professionals Only.  Distribution is strictly prohibited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	     v5 01-28-2026 ML</a:t>
            </a:r>
            <a:r>
              <a:rPr lang="en-US" sz="1400" dirty="0">
                <a:solidFill>
                  <a:srgbClr val="FF0000">
                    <a:alpha val="80000"/>
                  </a:srgbClr>
                </a:solidFill>
              </a:rPr>
              <a:t>. </a:t>
            </a:r>
            <a:r>
              <a:rPr lang="en-US" sz="1400" dirty="0"/>
              <a:t>							</a:t>
            </a:r>
            <a:r>
              <a:rPr lang="en-US" sz="1700" dirty="0"/>
              <a:t>		</a:t>
            </a:r>
          </a:p>
          <a:p>
            <a:endParaRPr lang="en-US" dirty="0"/>
          </a:p>
        </p:txBody>
      </p:sp>
      <p:pic>
        <p:nvPicPr>
          <p:cNvPr id="4" name="Picture 3" descr="C:\Users\cchan\Desktop\GMCC Logo new 2014.png">
            <a:extLst>
              <a:ext uri="{FF2B5EF4-FFF2-40B4-BE49-F238E27FC236}">
                <a16:creationId xmlns:a16="http://schemas.microsoft.com/office/drawing/2014/main" id="{56A09A8E-E24B-4A19-93BD-F9222FBE8D8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6376C-84C2-92BF-EC34-DC788458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</p:spTree>
    <p:extLst>
      <p:ext uri="{BB962C8B-B14F-4D97-AF65-F5344CB8AC3E}">
        <p14:creationId xmlns:p14="http://schemas.microsoft.com/office/powerpoint/2010/main" val="76755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E430-23CF-47FC-9DF4-A836BA325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78B431-9622-48AF-BD91-52DBEB1F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7" y="24145"/>
            <a:ext cx="12052186" cy="109998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Special</a:t>
            </a:r>
          </a:p>
        </p:txBody>
      </p:sp>
      <p:pic>
        <p:nvPicPr>
          <p:cNvPr id="6" name="Picture 5" descr="C:\Users\cchan\Desktop\GMCC Logo new 2014.png">
            <a:extLst>
              <a:ext uri="{FF2B5EF4-FFF2-40B4-BE49-F238E27FC236}">
                <a16:creationId xmlns:a16="http://schemas.microsoft.com/office/drawing/2014/main" id="{81078EFE-5F1A-4DFD-8007-C2898BF65A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225" y="140719"/>
            <a:ext cx="2729918" cy="8742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5095E73-EF92-441F-854C-B6002B7325E9}"/>
              </a:ext>
            </a:extLst>
          </p:cNvPr>
          <p:cNvSpPr txBox="1">
            <a:spLocks/>
          </p:cNvSpPr>
          <p:nvPr/>
        </p:nvSpPr>
        <p:spPr>
          <a:xfrm>
            <a:off x="0" y="1124125"/>
            <a:ext cx="12063370" cy="5349411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100% financing with no MI; 95% for HB</a:t>
            </a:r>
          </a:p>
          <a:p>
            <a:pPr marL="457200" indent="-457200">
              <a:defRPr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</a:rPr>
              <a:t>Available in CA, GA, FL, MA, NC, SC, VA</a:t>
            </a:r>
            <a:endParaRPr lang="en-US" sz="2400" b="1" dirty="0">
              <a:solidFill>
                <a:srgbClr val="FF0000"/>
              </a:solidFill>
              <a:highlight>
                <a:srgbClr val="FFFF00"/>
              </a:highlight>
              <a:latin typeface="Calibri" panose="020F0502020204030204"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Can combined with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</a:rPr>
              <a:t>10k Forgivable loan features (not available in VA/FL)</a:t>
            </a:r>
            <a:endParaRPr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457200" indent="-457200"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30 years fixed only, Daily Rate sheet from Lock Desk </a:t>
            </a:r>
            <a:endParaRPr lang="en-US" sz="2400" dirty="0">
              <a:solidFill>
                <a:prstClr val="white"/>
              </a:solidFill>
              <a:latin typeface="Calibri" panose="020F0502020204030204"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Conforming and HB ok </a:t>
            </a:r>
            <a:endParaRPr lang="en-US" sz="2400" b="1" dirty="0">
              <a:solidFill>
                <a:srgbClr val="FF0000"/>
              </a:solidFill>
              <a:latin typeface="Calibri" panose="020F0502020204030204"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Min borrower contribution = $500; 2 months reserve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Underwriting – based on AUS findings, Max DTI = 45%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Purchase only; OO only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Not limited to first time home buyer (but cannot own any property at closing except subject)</a:t>
            </a:r>
            <a:endParaRPr lang="en-US" sz="2400" dirty="0">
              <a:solidFill>
                <a:prstClr val="white"/>
              </a:solidFill>
              <a:latin typeface="Calibri" panose="020F0502020204030204"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Only available in eligible states and counties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Homebuyer education is required </a:t>
            </a:r>
            <a:endParaRPr lang="en-US" sz="2400" dirty="0">
              <a:solidFill>
                <a:prstClr val="white"/>
              </a:solidFill>
              <a:latin typeface="Calibri" panose="020F0502020204030204"/>
              <a:ea typeface="Calibri"/>
              <a:cs typeface="Calibri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No limit on IPC’s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alibri" panose="020F0502020204030204"/>
              </a:rPr>
              <a:t>This is broker loan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white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AB854A-480F-82F7-7D76-398509E9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Celebrity Community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50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BC5E-150F-2C12-6D24-AD6F2739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What</a:t>
            </a:r>
            <a:r>
              <a:rPr kumimoji="0" lang="en-US" sz="3500" b="1" i="0" u="none" strike="noStrike" kern="0" cap="none" spc="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is</a:t>
            </a:r>
            <a:r>
              <a:rPr kumimoji="0" lang="en-US" sz="3500" b="1" i="0" u="none" strike="noStrike" kern="0" cap="none" spc="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Community</a:t>
            </a:r>
            <a:r>
              <a:rPr kumimoji="0" lang="en-US" sz="3500" b="1" i="0" u="none" strike="noStrike" kern="0" cap="none" spc="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sz="3500" b="1" i="0" u="none" strike="noStrike" kern="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Opportunity?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457B-3439-78D8-26ED-8AE118B3A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program offered to encourage traditionally underserved applicants the opportunity for homeownership.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Has income, asset and property geographic limits</a:t>
            </a:r>
            <a:endParaRPr lang="en-US" dirty="0" err="1"/>
          </a:p>
          <a:p>
            <a:endParaRPr lang="en-US" dirty="0"/>
          </a:p>
          <a:p>
            <a:r>
              <a:rPr lang="en-US" dirty="0"/>
              <a:t>This program is not for someone that has the money but want to put as little downpayment as they can.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437D0-1C73-9792-5E6B-B53AB8A1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6" name="Picture 5" descr="C:\Users\cchan\Desktop\GMCC Logo new 2014.png">
            <a:extLst>
              <a:ext uri="{FF2B5EF4-FFF2-40B4-BE49-F238E27FC236}">
                <a16:creationId xmlns:a16="http://schemas.microsoft.com/office/drawing/2014/main" id="{5ACF6C5B-6DEA-2600-577F-3E1AF55E8BE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890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E901-500E-F096-0A7A-6BDC2513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3244-D13B-0F35-DE1C-ADBE13D1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27" y="135607"/>
            <a:ext cx="10093287" cy="884889"/>
          </a:xfrm>
        </p:spPr>
        <p:txBody>
          <a:bodyPr/>
          <a:lstStyle/>
          <a:p>
            <a:r>
              <a:rPr lang="en-US" sz="3500" b="1" kern="0" spc="-10" dirty="0">
                <a:solidFill>
                  <a:srgbClr val="0070C0"/>
                </a:solidFill>
                <a:latin typeface="Arial"/>
                <a:cs typeface="Arial"/>
              </a:rPr>
              <a:t>Program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C0E5-3EC8-40ED-5A72-E115E1DC4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07" y="1348228"/>
            <a:ext cx="10901190" cy="482873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Primary purchase only,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min</a:t>
            </a:r>
            <a:r>
              <a:rPr lang="en-US" dirty="0">
                <a:ea typeface="Calibri"/>
                <a:cs typeface="Calibri"/>
              </a:rPr>
              <a:t> 80% LTV, up to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100%</a:t>
            </a:r>
            <a:r>
              <a:rPr lang="en-US" dirty="0">
                <a:ea typeface="Calibri"/>
                <a:cs typeface="Calibri"/>
              </a:rPr>
              <a:t> financing, confirming and HB</a:t>
            </a:r>
          </a:p>
          <a:p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No</a:t>
            </a:r>
            <a:r>
              <a:rPr lang="en-US" dirty="0">
                <a:ea typeface="Calibri"/>
                <a:cs typeface="Calibri"/>
              </a:rPr>
              <a:t> MI</a:t>
            </a:r>
          </a:p>
          <a:p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Max</a:t>
            </a:r>
            <a:r>
              <a:rPr lang="en-US" dirty="0">
                <a:ea typeface="Calibri"/>
                <a:cs typeface="Calibri"/>
              </a:rPr>
              <a:t> liquid asset 36 months of PITI reserves</a:t>
            </a:r>
          </a:p>
          <a:p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Min</a:t>
            </a:r>
            <a:r>
              <a:rPr lang="en-US" dirty="0">
                <a:ea typeface="Calibri"/>
                <a:cs typeface="Calibri"/>
              </a:rPr>
              <a:t> 2 months PITI reserves, min $500 own funds contribution</a:t>
            </a:r>
          </a:p>
          <a:p>
            <a:r>
              <a:rPr lang="en-US" dirty="0">
                <a:ea typeface="Calibri"/>
                <a:cs typeface="Calibri"/>
              </a:rPr>
              <a:t>All income must be disclosed to max income limit eligibility</a:t>
            </a:r>
          </a:p>
          <a:p>
            <a:r>
              <a:rPr lang="en-US" dirty="0">
                <a:ea typeface="Calibri"/>
                <a:cs typeface="Calibri"/>
              </a:rPr>
              <a:t>All buyers on the purchase contract  must be borrowers( Removing a buyer is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not allowed</a:t>
            </a:r>
            <a:r>
              <a:rPr lang="en-US" dirty="0">
                <a:ea typeface="Calibri"/>
                <a:cs typeface="Calibri"/>
              </a:rPr>
              <a:t> after loan is submitted)</a:t>
            </a:r>
          </a:p>
          <a:p>
            <a:r>
              <a:rPr lang="en-US" dirty="0">
                <a:ea typeface="Calibri"/>
                <a:cs typeface="Calibri"/>
              </a:rPr>
              <a:t>Non-borrower title holder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not</a:t>
            </a:r>
            <a:r>
              <a:rPr lang="en-US" dirty="0">
                <a:ea typeface="Calibri"/>
                <a:cs typeface="Calibri"/>
              </a:rPr>
              <a:t> allowed</a:t>
            </a:r>
          </a:p>
          <a:p>
            <a:r>
              <a:rPr lang="en-US" dirty="0">
                <a:ea typeface="Calibri"/>
                <a:cs typeface="Calibri"/>
              </a:rPr>
              <a:t>Non-Occupant co-borrower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not</a:t>
            </a:r>
            <a:r>
              <a:rPr lang="en-US" dirty="0">
                <a:ea typeface="Calibri"/>
                <a:cs typeface="Calibri"/>
              </a:rPr>
              <a:t> allowed</a:t>
            </a:r>
          </a:p>
          <a:p>
            <a:r>
              <a:rPr lang="en-US" dirty="0">
                <a:ea typeface="Calibri"/>
                <a:cs typeface="Calibri"/>
              </a:rPr>
              <a:t>Not limited to FTHB</a:t>
            </a:r>
          </a:p>
          <a:p>
            <a:r>
              <a:rPr lang="en-US" dirty="0">
                <a:ea typeface="Calibri"/>
                <a:cs typeface="Calibri"/>
              </a:rPr>
              <a:t>Borrowers </a:t>
            </a:r>
            <a:r>
              <a:rPr lang="en-US" u="sng" dirty="0">
                <a:solidFill>
                  <a:srgbClr val="FF0000"/>
                </a:solidFill>
                <a:ea typeface="Calibri"/>
                <a:cs typeface="Calibri"/>
              </a:rPr>
              <a:t>cannot</a:t>
            </a:r>
            <a:r>
              <a:rPr lang="en-US" dirty="0">
                <a:ea typeface="Calibri"/>
                <a:cs typeface="Calibri"/>
              </a:rPr>
              <a:t> hold ownership interest in another </a:t>
            </a:r>
            <a:r>
              <a:rPr lang="en-US" dirty="0" err="1">
                <a:ea typeface="Calibri"/>
                <a:cs typeface="Calibri"/>
              </a:rPr>
              <a:t>proeprty</a:t>
            </a:r>
            <a:r>
              <a:rPr lang="en-US" dirty="0">
                <a:ea typeface="Calibri"/>
                <a:cs typeface="Calibri"/>
              </a:rPr>
              <a:t> at closing</a:t>
            </a:r>
          </a:p>
          <a:p>
            <a:r>
              <a:rPr lang="en-US" dirty="0">
                <a:ea typeface="Calibri"/>
                <a:cs typeface="Calibri"/>
              </a:rPr>
              <a:t>FTHB require homebuyer education</a:t>
            </a:r>
          </a:p>
          <a:p>
            <a:r>
              <a:rPr lang="en-US" dirty="0">
                <a:ea typeface="Calibri"/>
                <a:cs typeface="Calibri"/>
              </a:rPr>
              <a:t>All loans run FNMA –DU  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7B284-16AD-DF04-ECED-4DE0168C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6" name="Picture 5" descr="C:\Users\cchan\Desktop\GMCC Logo new 2014.png">
            <a:extLst>
              <a:ext uri="{FF2B5EF4-FFF2-40B4-BE49-F238E27FC236}">
                <a16:creationId xmlns:a16="http://schemas.microsoft.com/office/drawing/2014/main" id="{BAC3B8D5-20A9-60FF-10CC-C4A57D10285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54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E591-6812-6F95-DDFA-70665AE5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EE04-5867-43BF-749E-0365C068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0"/>
            <a:ext cx="7807960" cy="93281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Loan amount/LTV/FICO-</a:t>
            </a:r>
            <a:r>
              <a:rPr lang="en-US" sz="3500" b="1" dirty="0">
                <a:solidFill>
                  <a:srgbClr val="FF0000"/>
                </a:solidFill>
                <a:latin typeface="Arial"/>
                <a:cs typeface="Arial"/>
              </a:rPr>
              <a:t>Conforming</a:t>
            </a:r>
            <a:endParaRPr lang="en-US" sz="3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5C3C2-B063-CAC3-C188-55566263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4AB23A48-6AF1-176C-B98A-9A06CC8C532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1FF0EF-1B72-7C54-0511-13FE08818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625"/>
            <a:ext cx="11111345" cy="53498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3800" dirty="0"/>
          </a:p>
        </p:txBody>
      </p:sp>
      <p:pic>
        <p:nvPicPr>
          <p:cNvPr id="3" name="Picture 2" descr="A close-up of a credit score&#10;&#10;AI-generated content may be incorrect.">
            <a:extLst>
              <a:ext uri="{FF2B5EF4-FFF2-40B4-BE49-F238E27FC236}">
                <a16:creationId xmlns:a16="http://schemas.microsoft.com/office/drawing/2014/main" id="{0EE657BD-3EEA-AF56-71A4-CA88ED9A0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3" y="1479550"/>
            <a:ext cx="8372475" cy="186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0EB07-C111-4772-47A2-AEA2D31B796E}"/>
              </a:ext>
            </a:extLst>
          </p:cNvPr>
          <p:cNvSpPr txBox="1"/>
          <p:nvPr/>
        </p:nvSpPr>
        <p:spPr>
          <a:xfrm>
            <a:off x="568960" y="4069080"/>
            <a:ext cx="89611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Manufactured homes are limited to 95% LTV/CLTV in NC, SC, and VA </a:t>
            </a:r>
            <a:endParaRPr lang="en-US"/>
          </a:p>
          <a:p>
            <a:endParaRPr lang="en-US" dirty="0"/>
          </a:p>
          <a:p>
            <a:r>
              <a:rPr lang="en-US" dirty="0"/>
              <a:t>If borrower lives with a family member:</a:t>
            </a:r>
          </a:p>
          <a:p>
            <a:r>
              <a:rPr lang="en-US" dirty="0"/>
              <a:t>(1): min credit score is 660 for 97% LTV/100% CLTV </a:t>
            </a:r>
            <a:r>
              <a:rPr lang="en-US" u="sng" dirty="0">
                <a:solidFill>
                  <a:srgbClr val="FF0000"/>
                </a:solidFill>
              </a:rPr>
              <a:t>or</a:t>
            </a:r>
            <a:r>
              <a:rPr lang="en-US" dirty="0"/>
              <a:t> </a:t>
            </a:r>
          </a:p>
          <a:p>
            <a:r>
              <a:rPr lang="en-US" dirty="0"/>
              <a:t>(2): 680 for 100% LTV/105% CLTV.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3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564B-B192-A089-2AEC-4C5C1613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B00C-768D-7EC0-1246-03B251C9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0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Loan amount/LTV/FICO-</a:t>
            </a:r>
            <a:r>
              <a:rPr lang="en-US" sz="3500" b="1" dirty="0">
                <a:solidFill>
                  <a:srgbClr val="FF0000"/>
                </a:solidFill>
                <a:latin typeface="Arial"/>
                <a:cs typeface="Arial"/>
              </a:rPr>
              <a:t>HB</a:t>
            </a:r>
            <a:endParaRPr lang="en-US" sz="3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C8414-7D0F-9A4C-66B7-D45A36BE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EFFFE1B8-FA9E-D178-F974-D65A4D99F03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895" y="6708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36EBB-4A8E-05F1-C917-AAD68C12D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79" y="2445385"/>
            <a:ext cx="11111345" cy="5349875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Secondary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financing (CLTV) is only permitted with community second financing and grants as defined by Fannie Mae. 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Manufactured Homes are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limited to 95% LTV/CLTV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 NC, SC, and VA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Borrower live rent for free: Min score 680 for 80%LTV/100%CLTV</a:t>
            </a:r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8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close-up of a chart&#10;&#10;AI-generated content may be incorrect.">
            <a:extLst>
              <a:ext uri="{FF2B5EF4-FFF2-40B4-BE49-F238E27FC236}">
                <a16:creationId xmlns:a16="http://schemas.microsoft.com/office/drawing/2014/main" id="{8F06E1FC-DD97-DD86-19FF-BE0E3B044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8" y="1022350"/>
            <a:ext cx="101822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9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Eligible states and counties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152525"/>
            <a:ext cx="11010900" cy="4625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NC – all counties</a:t>
            </a:r>
          </a:p>
          <a:p>
            <a:r>
              <a:rPr lang="en-US" dirty="0"/>
              <a:t>SC – all counties</a:t>
            </a:r>
          </a:p>
          <a:p>
            <a:r>
              <a:rPr lang="en-US" dirty="0">
                <a:solidFill>
                  <a:srgbClr val="FF0000"/>
                </a:solidFill>
              </a:rPr>
              <a:t>CA</a:t>
            </a:r>
            <a:r>
              <a:rPr lang="en-US" dirty="0"/>
              <a:t> –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MA</a:t>
            </a:r>
            <a:r>
              <a:rPr lang="en-US" dirty="0"/>
              <a:t> -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1D4B22-C14C-E350-15B4-17AA23271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42" y="2599649"/>
            <a:ext cx="9351258" cy="1506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BB88A-935E-2AD0-9A21-365134BEF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848" y="4615149"/>
            <a:ext cx="9728452" cy="117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5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3144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Eligible states and counties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0" y="1020445"/>
            <a:ext cx="10515600" cy="2962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GA /FL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09286C-0412-7ABA-3825-90D14403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95" y="1438377"/>
            <a:ext cx="10734970" cy="2422192"/>
          </a:xfrm>
          <a:prstGeom prst="rect">
            <a:avLst/>
          </a:prstGeom>
        </p:spPr>
      </p:pic>
      <p:pic>
        <p:nvPicPr>
          <p:cNvPr id="3" name="Picture 2" descr="A blue and white sign with black text&#10;&#10;AI-generated content may be incorrect.">
            <a:extLst>
              <a:ext uri="{FF2B5EF4-FFF2-40B4-BE49-F238E27FC236}">
                <a16:creationId xmlns:a16="http://schemas.microsoft.com/office/drawing/2014/main" id="{9FB40AA8-C269-BE3B-1AAE-5C2DCF9D3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83" y="3989070"/>
            <a:ext cx="11344275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8E1E19-8523-A90C-67D1-E20601915064}"/>
              </a:ext>
            </a:extLst>
          </p:cNvPr>
          <p:cNvSpPr txBox="1"/>
          <p:nvPr/>
        </p:nvSpPr>
        <p:spPr>
          <a:xfrm>
            <a:off x="396240" y="5603240"/>
            <a:ext cx="729488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Max income limits for eligible counties in FL: 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/>
              <a:t>&gt;100% MFI all qualified properties </a:t>
            </a:r>
            <a:endParaRPr lang="en-US"/>
          </a:p>
          <a:p>
            <a:r>
              <a:rPr lang="en-US" dirty="0"/>
              <a:t>&gt;150% MFI for qualified properties and First-Generation Homebuyers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54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E86E-4CE3-2917-C632-33313E39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08E0F-DFA9-9123-8D95-E0D57BBD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5176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Eligible states and counties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8CC11-1A6D-DEF3-D57E-61ECC87C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D7107CEC-FEAE-DCF6-649F-1E25810656E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E881DD-E64D-D941-B84D-2D303F794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304925"/>
            <a:ext cx="10515600" cy="2962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</a:t>
            </a:r>
            <a:r>
              <a:rPr lang="en-US" dirty="0"/>
              <a:t> –</a:t>
            </a:r>
          </a:p>
          <a:p>
            <a:endParaRPr lang="en-US" dirty="0"/>
          </a:p>
        </p:txBody>
      </p:sp>
      <p:pic>
        <p:nvPicPr>
          <p:cNvPr id="3" name="Picture 2" descr="A table with names and cities&#10;&#10;AI-generated content may be incorrect.">
            <a:extLst>
              <a:ext uri="{FF2B5EF4-FFF2-40B4-BE49-F238E27FC236}">
                <a16:creationId xmlns:a16="http://schemas.microsoft.com/office/drawing/2014/main" id="{7535CEAD-F3AB-006F-A4F9-E81EF204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717675"/>
            <a:ext cx="9877425" cy="4083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299771-FC2B-95CF-2264-98E2BA2B84E5}"/>
              </a:ext>
            </a:extLst>
          </p:cNvPr>
          <p:cNvSpPr txBox="1"/>
          <p:nvPr/>
        </p:nvSpPr>
        <p:spPr>
          <a:xfrm>
            <a:off x="243840" y="5806440"/>
            <a:ext cx="85750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Max income limits for eligible counties in VA: 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/>
              <a:t>&gt;100% MFI all qualified properties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&gt;150% MFI for qualified properties and First-Generation Homebuyers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41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kumimoji="0" lang="en-US" sz="35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Income</a:t>
            </a:r>
            <a:r>
              <a:rPr kumimoji="0" lang="en-US" sz="3500" b="1" i="0" u="none" strike="noStrike" kern="0" cap="none" spc="2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sz="3500" b="1" i="0" u="none" strike="noStrike" kern="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Limits</a:t>
            </a:r>
            <a:endParaRPr lang="en-US" sz="3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518" y="1257589"/>
            <a:ext cx="10840720" cy="5299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100% MFI for all properties located in the eligible states and counties</a:t>
            </a:r>
          </a:p>
          <a:p>
            <a:endParaRPr lang="en-US" sz="2400" dirty="0"/>
          </a:p>
          <a:p>
            <a:r>
              <a:rPr lang="en-US" sz="2400" dirty="0"/>
              <a:t>150% MFI for all qualified First-Generation Homebuyers</a:t>
            </a:r>
          </a:p>
          <a:p>
            <a:r>
              <a:rPr lang="en-US" sz="2400" dirty="0"/>
              <a:t>150% MFI for borrowers moving TO a Majority Minority Census Tract (MMCT) in the allowable areas table.</a:t>
            </a:r>
          </a:p>
          <a:p>
            <a:r>
              <a:rPr lang="en-US" sz="2400" dirty="0"/>
              <a:t>150% MFI if subject property is located in Low-to-Moderate Census Tracts in the allowable areas, or in MMCT in </a:t>
            </a:r>
            <a:r>
              <a:rPr lang="en-US" sz="2400" dirty="0">
                <a:solidFill>
                  <a:srgbClr val="FF0000"/>
                </a:solidFill>
              </a:rPr>
              <a:t>CA, GA, MA, NC, SC. </a:t>
            </a:r>
            <a:endParaRPr lang="en-US" sz="24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sz="2400" dirty="0"/>
              <a:t>200% MFI for First Generation Homebuyers moving TO a Majority Minority Census Tract (MMCT) </a:t>
            </a:r>
            <a:r>
              <a:rPr lang="en-US" sz="2400" u="sng" dirty="0">
                <a:solidFill>
                  <a:srgbClr val="FF0000"/>
                </a:solidFill>
              </a:rPr>
              <a:t>or</a:t>
            </a:r>
            <a:r>
              <a:rPr lang="en-US" sz="2400" dirty="0"/>
              <a:t> to Low-to-Moderate in CA, GA, MA, NC, SC. Refer to allowable areas table.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Allowable areas  are NOT the same as eligible areas (mainly VA/FL is not qualified for higher income limit)</a:t>
            </a:r>
          </a:p>
        </p:txBody>
      </p:sp>
    </p:spTree>
    <p:extLst>
      <p:ext uri="{BB962C8B-B14F-4D97-AF65-F5344CB8AC3E}">
        <p14:creationId xmlns:p14="http://schemas.microsoft.com/office/powerpoint/2010/main" val="341194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How to determine Income Limits</a:t>
            </a:r>
            <a:endParaRPr lang="en-US" sz="3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blue and white chart with text&#10;&#10;AI-generated content may be incorrect.">
            <a:extLst>
              <a:ext uri="{FF2B5EF4-FFF2-40B4-BE49-F238E27FC236}">
                <a16:creationId xmlns:a16="http://schemas.microsoft.com/office/drawing/2014/main" id="{052D011C-94EC-3612-8121-D7CC1C221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253490"/>
            <a:ext cx="10156190" cy="510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0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28F4E-722B-32DC-9425-F77F56CD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6558-B8BB-D4C0-2326-B9229153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Generation Homebuyer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97F04-9BB4-2DBB-BFE3-022C65E72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7149BB55-4670-C828-BCD1-18F91CE674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6EBFCA-C970-5E9F-7C13-508B9C9F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727575"/>
          </a:xfrm>
        </p:spPr>
        <p:txBody>
          <a:bodyPr>
            <a:normAutofit fontScale="92500"/>
          </a:bodyPr>
          <a:lstStyle/>
          <a:p>
            <a:pPr marL="514350" indent="-514350">
              <a:buAutoNum type="arabicParenR"/>
            </a:pPr>
            <a:r>
              <a:rPr lang="en-US" dirty="0"/>
              <a:t>borrower who has not owned a home in the last three years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dirty="0"/>
              <a:t>whose Parent(s) never owned a home</a:t>
            </a:r>
          </a:p>
          <a:p>
            <a:pPr marL="0" indent="0">
              <a:buNone/>
            </a:pPr>
            <a:r>
              <a:rPr lang="en-US" dirty="0"/>
              <a:t>			OR</a:t>
            </a:r>
          </a:p>
          <a:p>
            <a:pPr marL="514350" indent="-514350">
              <a:buAutoNum type="arabicParenR" startAt="2"/>
            </a:pPr>
            <a:r>
              <a:rPr lang="en-US" dirty="0"/>
              <a:t>borrower who was in foster care</a:t>
            </a:r>
          </a:p>
          <a:p>
            <a:pPr marL="514350" indent="-514350">
              <a:buAutoNum type="arabicParenR" startAt="2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borrower who was raised by Guardian(s) meets the definition of a First-Generation homebuyer regardless of Guardian’s property ownership status.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Borrower must complete a FCB First Generation Homebuyer Declaration.</a:t>
            </a:r>
          </a:p>
        </p:txBody>
      </p:sp>
    </p:spTree>
    <p:extLst>
      <p:ext uri="{BB962C8B-B14F-4D97-AF65-F5344CB8AC3E}">
        <p14:creationId xmlns:p14="http://schemas.microsoft.com/office/powerpoint/2010/main" val="188657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16800" cy="892175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Generation Homebuyer Declaration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EEAABF4-3559-E945-184F-C09F844C6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050" y="1567841"/>
            <a:ext cx="11440892" cy="4223359"/>
          </a:xfrm>
        </p:spPr>
      </p:pic>
    </p:spTree>
    <p:extLst>
      <p:ext uri="{BB962C8B-B14F-4D97-AF65-F5344CB8AC3E}">
        <p14:creationId xmlns:p14="http://schemas.microsoft.com/office/powerpoint/2010/main" val="1150773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16800" cy="892175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Generation Homebuyer Declaration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60628B-D73E-7D2B-1769-70B8DC6DF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109" y="1482725"/>
            <a:ext cx="11209216" cy="4918075"/>
          </a:xfrm>
        </p:spPr>
      </p:pic>
    </p:spTree>
    <p:extLst>
      <p:ext uri="{BB962C8B-B14F-4D97-AF65-F5344CB8AC3E}">
        <p14:creationId xmlns:p14="http://schemas.microsoft.com/office/powerpoint/2010/main" val="364784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Minority Census Tract (MMCT)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455" y="11788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279525"/>
            <a:ext cx="10515600" cy="2962275"/>
          </a:xfrm>
        </p:spPr>
        <p:txBody>
          <a:bodyPr/>
          <a:lstStyle/>
          <a:p>
            <a:r>
              <a:rPr lang="en-US" sz="2600" dirty="0"/>
              <a:t>The SUBJECT PROPERTY must be in one of the allowable areas, AND</a:t>
            </a:r>
          </a:p>
          <a:p>
            <a:r>
              <a:rPr lang="en-US" sz="2600" dirty="0"/>
              <a:t>The borrower must be moving </a:t>
            </a:r>
            <a:r>
              <a:rPr lang="en-US" sz="2600" b="1" dirty="0">
                <a:solidFill>
                  <a:srgbClr val="FF0000"/>
                </a:solidFill>
              </a:rPr>
              <a:t>TO </a:t>
            </a:r>
            <a:r>
              <a:rPr lang="en-US" sz="2600" dirty="0"/>
              <a:t>an MMCT in one of the allowable areas.</a:t>
            </a:r>
          </a:p>
          <a:p>
            <a:r>
              <a:rPr lang="en-US" sz="2600" dirty="0"/>
              <a:t>MMCT is defined by a Tract Minority % greater than 50%. </a:t>
            </a:r>
          </a:p>
          <a:p>
            <a:r>
              <a:rPr lang="en-US" sz="2600" dirty="0">
                <a:solidFill>
                  <a:srgbClr val="FF0000"/>
                </a:solidFill>
                <a:hlinkClick r:id="rId3"/>
              </a:rPr>
              <a:t>https://geomap.ffiec.gov/ffiecgeomap/</a:t>
            </a:r>
            <a:endParaRPr lang="en-US" sz="2600" dirty="0">
              <a:solidFill>
                <a:srgbClr val="FF0000"/>
              </a:solidFill>
            </a:endParaRPr>
          </a:p>
          <a:p>
            <a:endParaRPr lang="en-US" sz="2600" dirty="0">
              <a:solidFill>
                <a:srgbClr val="FF0000"/>
              </a:solidFill>
            </a:endParaRPr>
          </a:p>
          <a:p>
            <a:endParaRPr lang="en-US" sz="2600" dirty="0"/>
          </a:p>
          <a:p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D101B-EFE6-7602-919B-F9F7BB64E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78" y="3283268"/>
            <a:ext cx="5983605" cy="343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2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MFI income limit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1711325"/>
            <a:ext cx="10515600" cy="2962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MFI for the state and county is found on the HUD office of Policy Development and Research Website.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huduser.gov/portal/datasets/il/il2023/</a:t>
            </a:r>
            <a:r>
              <a:rPr lang="en-US" dirty="0" err="1">
                <a:hlinkClick r:id="rId3"/>
              </a:rPr>
              <a:t>select_Geography.odn?STATES</a:t>
            </a:r>
            <a:r>
              <a:rPr lang="en-US" dirty="0">
                <a:hlinkClick r:id="rId3"/>
              </a:rPr>
              <a:t>=6.0&amp;statelist=6.0&amp;stname=&amp;wherefrom=%24wherefrom%24&amp;statefp=00&amp;year=&amp;</a:t>
            </a:r>
            <a:r>
              <a:rPr lang="en-US" dirty="0" err="1">
                <a:hlinkClick r:id="rId3"/>
              </a:rPr>
              <a:t>ne_flag</a:t>
            </a:r>
            <a:r>
              <a:rPr lang="en-US" dirty="0">
                <a:hlinkClick r:id="rId3"/>
              </a:rPr>
              <a:t>=0&amp;selection_type=&amp;</a:t>
            </a:r>
            <a:r>
              <a:rPr lang="en-US" dirty="0" err="1">
                <a:hlinkClick r:id="rId3"/>
              </a:rPr>
              <a:t>incpath</a:t>
            </a:r>
            <a:r>
              <a:rPr lang="en-US" dirty="0">
                <a:hlinkClick r:id="rId3"/>
              </a:rPr>
              <a:t>=%24incpath%24&amp;data=2023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310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MFI income limit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11F036-BB21-7F62-1FDA-EDEB46B35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6230" y="1370489"/>
            <a:ext cx="6743700" cy="3117850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1606490-DDAF-434C-7EDA-E04DCF3B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952" y="1373822"/>
            <a:ext cx="3076575" cy="3724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E0ABFB-25D2-191D-B851-B169C725806A}"/>
              </a:ext>
            </a:extLst>
          </p:cNvPr>
          <p:cNvSpPr txBox="1"/>
          <p:nvPr/>
        </p:nvSpPr>
        <p:spPr>
          <a:xfrm>
            <a:off x="243840" y="4861560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Income limit</a:t>
            </a:r>
            <a:endParaRPr lang="en-US" sz="1800" kern="1200" dirty="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100</a:t>
            </a:r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% =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106,600</a:t>
            </a:r>
            <a:endParaRPr lang="en-US" sz="1800" kern="1200" dirty="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150% =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106,600 </a:t>
            </a:r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x 150% =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159,900</a:t>
            </a:r>
            <a:endParaRPr lang="en-US" sz="1800" kern="1200" dirty="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200% =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106,600 </a:t>
            </a:r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+mn-ea"/>
                <a:cs typeface="+mn-cs"/>
              </a:rPr>
              <a:t>x 200% =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</a:rPr>
              <a:t>213,200</a:t>
            </a:r>
            <a:endParaRPr lang="en-US" sz="1800" kern="1200" dirty="0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0" algn="l" rtl="0"/>
            <a:r>
              <a:rPr lang="en-US" sz="1800" kern="1200" dirty="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https://www.huduser.gov/portal/satasets/il.html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1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5800" cy="892175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Minority Census Tract (MMCT)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1279525"/>
            <a:ext cx="4876800" cy="43973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</a:rPr>
              <a:t>For Example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Borrower is moving into Los Angeles:</a:t>
            </a:r>
            <a:endParaRPr lang="en-US" sz="2600" dirty="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 Los Angeles is in LA county in CA = eligible state and county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LA is located at Minority Tract (see FFIEC)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So can use 150% of the MFI income limit (106,600 x 150%)</a:t>
            </a:r>
            <a:endParaRPr lang="en-US" sz="2600" dirty="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If First Generation Home Buyer – can use 200% of the MFI income limit (106,600 x 200%)</a:t>
            </a:r>
            <a:endParaRPr lang="en-US" sz="2600" dirty="0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600" dirty="0"/>
          </a:p>
          <a:p>
            <a:pPr>
              <a:buFont typeface="Wingdings" panose="05000000000000000000" pitchFamily="2" charset="2"/>
              <a:buChar char="ü"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32A743-ABA8-96DD-78C8-E866DB6E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318" y="2053908"/>
            <a:ext cx="5760085" cy="329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67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F702-74C5-612B-DF66-68BCE264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349E-2EF1-4074-8440-EB95AE14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" y="-635"/>
            <a:ext cx="69342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Credit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8BF94-BF5C-DEE7-BF08-6E0FEBC6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896C34CF-B458-8978-2EA9-9275C5B2EF2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615" y="6708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4FBC64-D180-2AB5-ABEE-837181D5D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60" y="1058546"/>
            <a:ext cx="10515600" cy="3761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2 trade lines open and active for most recent 12 months.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Non-traditional tradelines allowed (i.e., rent, utilities, etc.) 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2400" dirty="0">
                <a:ea typeface="+mn-lt"/>
                <a:cs typeface="+mn-lt"/>
              </a:rPr>
              <a:t>VOR-12 months OK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Credit events:</a:t>
            </a:r>
          </a:p>
          <a:p>
            <a:r>
              <a:rPr lang="en-US" sz="2400" dirty="0">
                <a:ea typeface="+mn-lt"/>
                <a:cs typeface="+mn-lt"/>
              </a:rPr>
              <a:t>Foreclosure:                        – 7 years 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Deed-in-Lieu/ Short Sale   – 4 year 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453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6451-58ED-B278-C776-295C6231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D6DE-AFF6-9B28-57ED-2569205D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365125"/>
            <a:ext cx="69342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026D0-3851-8EBB-A92B-11CBC90B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057D4887-4D16-424F-51CC-B5A395A5352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5B200-E75E-0132-BF53-3B7343DED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444626"/>
            <a:ext cx="10515600" cy="3761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Need 2 years full-time employment US income history.</a:t>
            </a: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2 years W2 and the most recent 30 days paystub with YTD income</a:t>
            </a:r>
          </a:p>
          <a:p>
            <a:endParaRPr lang="en-US" sz="2400" dirty="0"/>
          </a:p>
          <a:p>
            <a:r>
              <a:rPr lang="en-US" sz="2400" dirty="0"/>
              <a:t>Self-employed: need  2 years individual and business tax returns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Schooling can be treated as work history.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22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365125"/>
            <a:ext cx="69342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184854"/>
            <a:ext cx="10515600" cy="4935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This CRA program is intended for underserved group.  It is not intended for borrower with assets but don’t want to put down more downpayment.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If post close asset &gt; 36 months PITIA, then file will not qualify for this CRA program.</a:t>
            </a:r>
          </a:p>
          <a:p>
            <a:endParaRPr lang="en-US" sz="2400" dirty="0"/>
          </a:p>
          <a:p>
            <a:r>
              <a:rPr lang="en-US" sz="2400" dirty="0"/>
              <a:t>Min 2 months PITI reserves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Max gift is 10% of sales price, gift funds can be used as reserves.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/>
              <a:t>Business fund is not allowed</a:t>
            </a:r>
          </a:p>
          <a:p>
            <a:r>
              <a:rPr lang="en-US" sz="2400" dirty="0">
                <a:ea typeface="Calibri"/>
                <a:cs typeface="Calibri"/>
              </a:rPr>
              <a:t>Vested retirement funds: 90%</a:t>
            </a: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4772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A0E1-FB25-9A4C-98D5-DE89C5A4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C89F-5BEA-67B9-A196-474A1CD1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365125"/>
            <a:ext cx="69342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7832F-3440-4F83-46D4-1048BD6B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6B719752-093F-D98E-9608-3B360DA9B40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A7D2EC-EBE9-4A96-5B63-2C538FF75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1184854"/>
            <a:ext cx="10515600" cy="4935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Calibri"/>
                <a:cs typeface="Calibri"/>
              </a:rPr>
              <a:t>Non-arm's length transaction allowed-follow FNMA</a:t>
            </a:r>
          </a:p>
          <a:p>
            <a:r>
              <a:rPr lang="en-US" sz="2400" dirty="0">
                <a:ea typeface="Calibri"/>
                <a:cs typeface="Calibri"/>
              </a:rPr>
              <a:t>Eligible property: SFR(1 Unit), PUD, Warrantable condo</a:t>
            </a:r>
          </a:p>
          <a:p>
            <a:r>
              <a:rPr lang="en-US" sz="2400" dirty="0">
                <a:ea typeface="Calibri"/>
                <a:cs typeface="Calibri"/>
              </a:rPr>
              <a:t>New condo project </a:t>
            </a:r>
            <a:r>
              <a:rPr lang="en-US" sz="2400" u="sng" dirty="0">
                <a:solidFill>
                  <a:srgbClr val="FF0000"/>
                </a:solidFill>
                <a:ea typeface="Calibri"/>
                <a:cs typeface="Calibri"/>
              </a:rPr>
              <a:t>Ineligible</a:t>
            </a:r>
          </a:p>
          <a:p>
            <a:r>
              <a:rPr lang="en-US" sz="2400" dirty="0">
                <a:ea typeface="Calibri"/>
                <a:cs typeface="Calibri"/>
              </a:rPr>
              <a:t>Manufactured homes in NC, SC, VA ONLY</a:t>
            </a:r>
          </a:p>
          <a:p>
            <a:r>
              <a:rPr lang="en-US" sz="2400" dirty="0">
                <a:ea typeface="Calibri"/>
                <a:cs typeface="Calibri"/>
              </a:rPr>
              <a:t>FLP allowed in CA, GA, MA, NC, SC ONLY</a:t>
            </a:r>
          </a:p>
          <a:p>
            <a:r>
              <a:rPr lang="en-US" sz="2400" dirty="0">
                <a:ea typeface="Calibri"/>
                <a:cs typeface="Calibri"/>
              </a:rPr>
              <a:t>External DPA allowed –Follow FNMA, borrower min own funds $500, max CLTV 105%</a:t>
            </a:r>
          </a:p>
          <a:p>
            <a:r>
              <a:rPr lang="en-US" sz="2400" dirty="0">
                <a:ea typeface="Calibri"/>
                <a:cs typeface="Calibri"/>
              </a:rPr>
              <a:t>No Limit on IPC's</a:t>
            </a:r>
          </a:p>
        </p:txBody>
      </p:sp>
    </p:spTree>
    <p:extLst>
      <p:ext uri="{BB962C8B-B14F-4D97-AF65-F5344CB8AC3E}">
        <p14:creationId xmlns:p14="http://schemas.microsoft.com/office/powerpoint/2010/main" val="280668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8A41-2EE6-28F1-2D32-4894D541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365125"/>
            <a:ext cx="6934200" cy="8921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46614-21B9-B7B3-6A04-6B0B8663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593FD2BD-62C5-994E-CE42-9DF58BA9983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E061-D7BF-2F99-C04F-C2D53038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936" y="1070552"/>
            <a:ext cx="10515600" cy="5392593"/>
          </a:xfrm>
        </p:spPr>
        <p:txBody>
          <a:bodyPr>
            <a:noAutofit/>
          </a:bodyPr>
          <a:lstStyle/>
          <a:p>
            <a:r>
              <a:rPr lang="en-US" sz="2400" dirty="0"/>
              <a:t>Provide a complete and accurate 1003</a:t>
            </a:r>
          </a:p>
          <a:p>
            <a:r>
              <a:rPr lang="en-US" sz="2400" dirty="0"/>
              <a:t>If rental history cannot be documented, do not include on 1003</a:t>
            </a:r>
          </a:p>
          <a:p>
            <a:r>
              <a:rPr lang="en-US" sz="2400" dirty="0"/>
              <a:t>Label income sources correctly to ensure accurate AUS recommendation</a:t>
            </a:r>
          </a:p>
          <a:p>
            <a:r>
              <a:rPr lang="en-US" sz="2400" dirty="0"/>
              <a:t>No TBD Loans</a:t>
            </a:r>
          </a:p>
          <a:p>
            <a:r>
              <a:rPr lang="en-US" sz="2400" dirty="0"/>
              <a:t>Provide product checklist for review prior to submitting or locking loan</a:t>
            </a:r>
          </a:p>
          <a:p>
            <a:r>
              <a:rPr lang="en-US" sz="2400" dirty="0"/>
              <a:t>Reserves must be borrower’s own funds</a:t>
            </a:r>
          </a:p>
          <a:p>
            <a:r>
              <a:rPr lang="en-US" sz="2400" dirty="0"/>
              <a:t>Follow AUS recommendations</a:t>
            </a:r>
          </a:p>
          <a:p>
            <a:r>
              <a:rPr lang="en-US" sz="2400" dirty="0"/>
              <a:t>Incomplete submissions will not be moved forward</a:t>
            </a:r>
          </a:p>
          <a:p>
            <a:r>
              <a:rPr lang="en-US" sz="2400" dirty="0"/>
              <a:t>Partial conditions will not be reviewed</a:t>
            </a:r>
          </a:p>
          <a:p>
            <a:r>
              <a:rPr lang="en-US" sz="2400" dirty="0"/>
              <a:t>Gift funds must be deposited into Escrow or Borrower account prior to CTC</a:t>
            </a:r>
          </a:p>
          <a:p>
            <a:r>
              <a:rPr lang="en-US" sz="2400" dirty="0"/>
              <a:t>Need 1 month donor bank statement</a:t>
            </a:r>
          </a:p>
          <a:p>
            <a:r>
              <a:rPr lang="en-US" sz="2400" dirty="0"/>
              <a:t>Title only person – not allowed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90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551A-88B5-A450-CDB7-6D10EAA2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7C05-EE83-B21D-7BEE-C61A932F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800" y="365125"/>
            <a:ext cx="6934200" cy="892175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Allowable areas for increased income limit-</a:t>
            </a:r>
            <a:r>
              <a:rPr lang="en-US" sz="3500" b="1" dirty="0">
                <a:solidFill>
                  <a:srgbClr val="FF0000"/>
                </a:solidFill>
                <a:latin typeface="Arial"/>
                <a:cs typeface="Arial"/>
              </a:rPr>
              <a:t>CA/GA/MA</a:t>
            </a:r>
            <a:endParaRPr lang="en-US" sz="3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E42E2-1280-D19F-6157-B47E512C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393D2022-9D72-1000-F12C-2DFD74D62D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295" y="48364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A690F3-C16B-2AEF-58B7-344972172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8038" y="1869917"/>
            <a:ext cx="9976502" cy="467581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147CA-648B-469C-9655-34BC8E4AB64F}"/>
              </a:ext>
            </a:extLst>
          </p:cNvPr>
          <p:cNvSpPr txBox="1"/>
          <p:nvPr/>
        </p:nvSpPr>
        <p:spPr>
          <a:xfrm>
            <a:off x="873760" y="1397000"/>
            <a:ext cx="102920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150% or 200% MFI income limits available for allowable counties in CA, GA, MA, NC, SC.</a:t>
            </a:r>
            <a:endParaRPr lang="en-US" b="1">
              <a:solidFill>
                <a:srgbClr val="FF0000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pPr algn="ctr"/>
            <a:endParaRPr lang="en-US" b="1" dirty="0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0403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158BD-8045-1318-43EB-2364803F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EDC1-E98D-FCBA-D8DA-55CAE986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-635"/>
            <a:ext cx="9291320" cy="1095375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0070C0"/>
                </a:solidFill>
                <a:latin typeface="Arial"/>
                <a:cs typeface="Arial"/>
              </a:rPr>
              <a:t>Allowable areas for increased income limit-</a:t>
            </a:r>
            <a:r>
              <a:rPr lang="en-US" sz="3500" b="1" dirty="0">
                <a:solidFill>
                  <a:srgbClr val="FF0000"/>
                </a:solidFill>
                <a:latin typeface="Arial"/>
                <a:cs typeface="Arial"/>
              </a:rPr>
              <a:t>NC/ SC</a:t>
            </a:r>
            <a:endParaRPr lang="en-US" sz="3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B405E-B928-D024-F269-30A2E402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Celebrity Community</a:t>
            </a:r>
          </a:p>
        </p:txBody>
      </p:sp>
      <p:pic>
        <p:nvPicPr>
          <p:cNvPr id="7" name="Picture 6" descr="C:\Users\cchan\Desktop\GMCC Logo new 2014.png">
            <a:extLst>
              <a:ext uri="{FF2B5EF4-FFF2-40B4-BE49-F238E27FC236}">
                <a16:creationId xmlns:a16="http://schemas.microsoft.com/office/drawing/2014/main" id="{83D896E9-7730-C9F8-FC1F-7A94FB197C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055" y="87408"/>
            <a:ext cx="2853055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table with names on it&#10;&#10;AI-generated content may be incorrect.">
            <a:extLst>
              <a:ext uri="{FF2B5EF4-FFF2-40B4-BE49-F238E27FC236}">
                <a16:creationId xmlns:a16="http://schemas.microsoft.com/office/drawing/2014/main" id="{519B3AB4-B8C1-8DEA-D29C-B07C2495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3" y="1101408"/>
            <a:ext cx="8405495" cy="3232785"/>
          </a:xfrm>
          <a:prstGeom prst="rect">
            <a:avLst/>
          </a:prstGeom>
        </p:spPr>
      </p:pic>
      <p:pic>
        <p:nvPicPr>
          <p:cNvPr id="8" name="Picture 7" descr="A table with names of cities&#10;&#10;AI-generated content may be incorrect.">
            <a:extLst>
              <a:ext uri="{FF2B5EF4-FFF2-40B4-BE49-F238E27FC236}">
                <a16:creationId xmlns:a16="http://schemas.microsoft.com/office/drawing/2014/main" id="{6864A7F1-0489-1930-34A4-28C23FEEE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08" y="4456748"/>
            <a:ext cx="8561705" cy="219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1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1efb9a-838d-4fe9-a8db-d391340490fb" xsi:nil="true"/>
    <lcf76f155ced4ddcb4097134ff3c332f xmlns="c378d81f-9352-4b03-8a49-3e3fadb51b8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CB929F14747646ABBEB3202B438CEB" ma:contentTypeVersion="15" ma:contentTypeDescription="Create a new document." ma:contentTypeScope="" ma:versionID="2ec7b96a82ad3072bff83a9d9438ddde">
  <xsd:schema xmlns:xsd="http://www.w3.org/2001/XMLSchema" xmlns:xs="http://www.w3.org/2001/XMLSchema" xmlns:p="http://schemas.microsoft.com/office/2006/metadata/properties" xmlns:ns2="c378d81f-9352-4b03-8a49-3e3fadb51b80" xmlns:ns3="901efb9a-838d-4fe9-a8db-d391340490fb" targetNamespace="http://schemas.microsoft.com/office/2006/metadata/properties" ma:root="true" ma:fieldsID="b0a742ff5552421761599c7763c4d152" ns2:_="" ns3:_="">
    <xsd:import namespace="c378d81f-9352-4b03-8a49-3e3fadb51b80"/>
    <xsd:import namespace="901efb9a-838d-4fe9-a8db-d39134049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8d81f-9352-4b03-8a49-3e3fadb51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986cbaf-5b42-4bc6-8c30-ab1a6f95cb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1efb9a-838d-4fe9-a8db-d391340490f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62b647f-5bf8-4d13-b199-03c805890971}" ma:internalName="TaxCatchAll" ma:showField="CatchAllData" ma:web="901efb9a-838d-4fe9-a8db-d39134049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1DA69E-7483-462A-95DC-3482EC2D820B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c378d81f-9352-4b03-8a49-3e3fadb51b80"/>
    <ds:schemaRef ds:uri="http://schemas.microsoft.com/office/infopath/2007/PartnerControls"/>
    <ds:schemaRef ds:uri="http://schemas.openxmlformats.org/package/2006/metadata/core-properties"/>
    <ds:schemaRef ds:uri="901efb9a-838d-4fe9-a8db-d391340490f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BA2B91A-FEE7-4E97-9BF3-9EB5FC652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F6D5BB-F323-4B10-AB3E-3AF492DFFBDC}"/>
</file>

<file path=docMetadata/LabelInfo.xml><?xml version="1.0" encoding="utf-8"?>
<clbl:labelList xmlns:clbl="http://schemas.microsoft.com/office/2020/mipLabelMetadata">
  <clbl:label id="{9f605dae-ab54-4576-8337-e008c4b7b2ce}" enabled="0" method="" siteId="{9f605dae-ab54-4576-8337-e008c4b7b2c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1028</Words>
  <Application>Microsoft Office PowerPoint</Application>
  <PresentationFormat>Widescreen</PresentationFormat>
  <Paragraphs>167</Paragraphs>
  <Slides>25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1_Office Theme</vt:lpstr>
      <vt:lpstr>GMCC – Celebrity Community Opportunity Mortgage Pilot program – restricted submission </vt:lpstr>
      <vt:lpstr>Special</vt:lpstr>
      <vt:lpstr>What is Community Opportunity?</vt:lpstr>
      <vt:lpstr>Program Highlights</vt:lpstr>
      <vt:lpstr>Loan amount/LTV/FICO-Conforming</vt:lpstr>
      <vt:lpstr>Loan amount/LTV/FICO-HB</vt:lpstr>
      <vt:lpstr>Eligible states and counties</vt:lpstr>
      <vt:lpstr>Eligible states and counties</vt:lpstr>
      <vt:lpstr>Eligible states and counties</vt:lpstr>
      <vt:lpstr>Income Limits</vt:lpstr>
      <vt:lpstr>How to determine Income Limits</vt:lpstr>
      <vt:lpstr>First Generation Homebuyer</vt:lpstr>
      <vt:lpstr>First Generation Homebuyer Declaration</vt:lpstr>
      <vt:lpstr>First Generation Homebuyer Declaration</vt:lpstr>
      <vt:lpstr>Majority Minority Census Tract (MMCT)</vt:lpstr>
      <vt:lpstr>MFI income limit</vt:lpstr>
      <vt:lpstr>MFI income limit</vt:lpstr>
      <vt:lpstr>Majority Minority Census Tract (MMCT)</vt:lpstr>
      <vt:lpstr>Credit </vt:lpstr>
      <vt:lpstr>Income </vt:lpstr>
      <vt:lpstr>Assets</vt:lpstr>
      <vt:lpstr>Notes</vt:lpstr>
      <vt:lpstr>Best Practices</vt:lpstr>
      <vt:lpstr>Allowable areas for increased income limit-CA/GA/MA</vt:lpstr>
      <vt:lpstr>Allowable areas for increased income limit-NC/ 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Mandie Law</dc:creator>
  <cp:lastModifiedBy>Mandie Law</cp:lastModifiedBy>
  <cp:revision>418</cp:revision>
  <dcterms:created xsi:type="dcterms:W3CDTF">2020-09-19T04:22:27Z</dcterms:created>
  <dcterms:modified xsi:type="dcterms:W3CDTF">2026-03-13T21:07:05Z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0x01010025CB929F14747646ABBEB3202B438CEB</vt:lpwstr>
  </property>
  <property fmtid="{D5CDD505-2E9C-101B-9397-08002B2CF9AE}" pid="3" name="MediaServiceImageTags">
    <vt:lpwstr/>
  </property>
</Properties>
</file>